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406640" y="914400"/>
            <a:ext cx="3977640" cy="0"/>
          </a:xfrm>
          <a:prstGeom prst="line">
            <a:avLst/>
          </a:prstGeom>
          <a:ln w="12700">
            <a:solidFill>
              <a:srgbClr val="304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406640" y="1938528"/>
            <a:ext cx="3977640" cy="0"/>
          </a:xfrm>
          <a:prstGeom prst="line">
            <a:avLst/>
          </a:prstGeom>
          <a:ln w="12700">
            <a:solidFill>
              <a:srgbClr val="304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406640" y="2962656"/>
            <a:ext cx="3977640" cy="0"/>
          </a:xfrm>
          <a:prstGeom prst="line">
            <a:avLst/>
          </a:prstGeom>
          <a:ln w="12700">
            <a:solidFill>
              <a:srgbClr val="304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06640" y="3986784"/>
            <a:ext cx="3977640" cy="0"/>
          </a:xfrm>
          <a:prstGeom prst="line">
            <a:avLst/>
          </a:prstGeom>
          <a:ln w="12700">
            <a:solidFill>
              <a:srgbClr val="304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406640" y="5010912"/>
            <a:ext cx="3977640" cy="0"/>
          </a:xfrm>
          <a:prstGeom prst="line">
            <a:avLst/>
          </a:prstGeom>
          <a:ln w="12700">
            <a:solidFill>
              <a:srgbClr val="304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635240" y="914400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35240" y="1938528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35240" y="2962656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35240" y="3986784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35240" y="5010912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23960" y="914400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23960" y="1938528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23960" y="2962656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23960" y="3986784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23960" y="5010912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12680" y="914400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12680" y="1938528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12680" y="2962656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2680" y="3986784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12680" y="5010912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64240" y="914400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64240" y="1938528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64240" y="2962656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64240" y="3986784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064240" y="5010912"/>
            <a:ext cx="109728" cy="109728"/>
          </a:xfrm>
          <a:prstGeom prst="ellipse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58368"/>
            <a:ext cx="5943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37BECF"/>
                </a:solidFill>
                <a:latin typeface="Aptos"/>
              </a:rPr>
              <a:t>DIGITAL DESIGN • MINI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1417320"/>
            <a:ext cx="658368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Aptos"/>
              </a:rPr>
              <a:t>8-BIT PISO</a:t>
            </a:r>
          </a:p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Aptos"/>
              </a:rPr>
              <a:t>SHIFT REGISTER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182112"/>
            <a:ext cx="585216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CDDCF0"/>
                </a:solidFill>
                <a:latin typeface="Aptos"/>
              </a:rPr>
              <a:t>Parallel-In Serial-Out (PISO)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4160520"/>
            <a:ext cx="914400" cy="54864"/>
          </a:xfrm>
          <a:prstGeom prst="rect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462272"/>
            <a:ext cx="548640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Design • Working • Logisim Demo • Applications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943600"/>
            <a:ext cx="5943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B9C8DE"/>
                </a:solidFill>
                <a:latin typeface="Aptos"/>
              </a:rPr>
              <a:t>Name: __________________   |   Roll No.: __________________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1417320"/>
            <a:ext cx="749808" cy="749808"/>
          </a:xfrm>
          <a:prstGeom prst="roundRect">
            <a:avLst>
              <a:gd name="adj" fmla="val 12000"/>
            </a:avLst>
          </a:prstGeom>
          <a:solidFill>
            <a:srgbClr val="1D2D46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1527048"/>
            <a:ext cx="74980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1417320"/>
            <a:ext cx="749808" cy="749808"/>
          </a:xfrm>
          <a:prstGeom prst="roundRect">
            <a:avLst>
              <a:gd name="adj" fmla="val 12000"/>
            </a:avLst>
          </a:prstGeom>
          <a:solidFill>
            <a:srgbClr val="1D2D46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1527048"/>
            <a:ext cx="74980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1417320"/>
            <a:ext cx="749808" cy="749808"/>
          </a:xfrm>
          <a:prstGeom prst="roundRect">
            <a:avLst>
              <a:gd name="adj" fmla="val 12000"/>
            </a:avLst>
          </a:prstGeom>
          <a:solidFill>
            <a:srgbClr val="1D2D46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1527048"/>
            <a:ext cx="74980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95560" y="1417320"/>
            <a:ext cx="749808" cy="749808"/>
          </a:xfrm>
          <a:prstGeom prst="roundRect">
            <a:avLst>
              <a:gd name="adj" fmla="val 12000"/>
            </a:avLst>
          </a:prstGeom>
          <a:solidFill>
            <a:srgbClr val="1D2D46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95560" y="1527048"/>
            <a:ext cx="74980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3246120"/>
            <a:ext cx="749808" cy="749808"/>
          </a:xfrm>
          <a:prstGeom prst="roundRect">
            <a:avLst>
              <a:gd name="adj" fmla="val 12000"/>
            </a:avLst>
          </a:prstGeom>
          <a:solidFill>
            <a:srgbClr val="1D2D46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3355848"/>
            <a:ext cx="74980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20" y="3246120"/>
            <a:ext cx="749808" cy="749808"/>
          </a:xfrm>
          <a:prstGeom prst="roundRect">
            <a:avLst>
              <a:gd name="adj" fmla="val 12000"/>
            </a:avLst>
          </a:prstGeom>
          <a:solidFill>
            <a:srgbClr val="1D2D46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3355848"/>
            <a:ext cx="74980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5440" y="3246120"/>
            <a:ext cx="749808" cy="749808"/>
          </a:xfrm>
          <a:prstGeom prst="roundRect">
            <a:avLst>
              <a:gd name="adj" fmla="val 12000"/>
            </a:avLst>
          </a:prstGeom>
          <a:solidFill>
            <a:srgbClr val="1D2D46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0" y="3355848"/>
            <a:ext cx="74980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95560" y="3246120"/>
            <a:ext cx="749808" cy="749808"/>
          </a:xfrm>
          <a:prstGeom prst="roundRect">
            <a:avLst>
              <a:gd name="adj" fmla="val 12000"/>
            </a:avLst>
          </a:prstGeom>
          <a:solidFill>
            <a:srgbClr val="1D2D46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95560" y="3355848"/>
            <a:ext cx="74980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212080"/>
            <a:ext cx="39319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7BECF"/>
                </a:solidFill>
                <a:latin typeface="Aptos"/>
              </a:rPr>
              <a:t>LOAD  →  SHIFT  →  SERIAL 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F36"/>
                </a:solidFill>
                <a:latin typeface="Aptos"/>
              </a:rP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658368" cy="50292"/>
          </a:xfrm>
          <a:prstGeom prst="rect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713232"/>
            <a:ext cx="10241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6758A"/>
                </a:solidFill>
                <a:latin typeface="Aptos"/>
              </a:rPr>
              <a:t>What problem does a PISO register solve?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6758A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6400800" cy="4526280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58521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66FC9"/>
                </a:solidFill>
                <a:latin typeface="Aptos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557784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121F36"/>
                </a:solidFill>
                <a:latin typeface="Aptos"/>
              </a:rPr>
              <a:t>How can 8 bits of data be loaded at the same time, then sent out one bit at a time?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429000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337560"/>
            <a:ext cx="5257800" cy="6126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33043"/>
                </a:solidFill>
                <a:latin typeface="Aptos"/>
              </a:rPr>
              <a:t>Parallel input: all 8 bits enter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4087368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995928"/>
            <a:ext cx="5257800" cy="6126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33043"/>
                </a:solidFill>
                <a:latin typeface="Aptos"/>
              </a:rPr>
              <a:t>Serial output: one bit is transmitted on each clock pulse.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745736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654296"/>
            <a:ext cx="5257800" cy="6126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33043"/>
                </a:solidFill>
                <a:latin typeface="Aptos"/>
              </a:rPr>
              <a:t>The circuit should support loading and shifting in a controlled way.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353312"/>
            <a:ext cx="4023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366FC9"/>
                </a:solidFill>
                <a:latin typeface="Aptos"/>
              </a:rPr>
              <a:t>INPUT: 8 BITS AT ONCE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828800"/>
            <a:ext cx="438912" cy="502920"/>
          </a:xfrm>
          <a:prstGeom prst="roundRect">
            <a:avLst>
              <a:gd name="adj" fmla="val 12000"/>
            </a:avLst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883664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828800"/>
            <a:ext cx="438912" cy="502920"/>
          </a:xfrm>
          <a:prstGeom prst="roundRect">
            <a:avLst>
              <a:gd name="adj" fmla="val 12000"/>
            </a:avLst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883664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828800"/>
            <a:ext cx="438912" cy="502920"/>
          </a:xfrm>
          <a:prstGeom prst="roundRect">
            <a:avLst>
              <a:gd name="adj" fmla="val 12000"/>
            </a:avLst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883664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828800"/>
            <a:ext cx="438912" cy="502920"/>
          </a:xfrm>
          <a:prstGeom prst="roundRect">
            <a:avLst>
              <a:gd name="adj" fmla="val 12000"/>
            </a:avLst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1883664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1828800"/>
            <a:ext cx="438912" cy="502920"/>
          </a:xfrm>
          <a:prstGeom prst="roundRect">
            <a:avLst>
              <a:gd name="adj" fmla="val 12000"/>
            </a:avLst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883664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828800"/>
            <a:ext cx="438912" cy="502920"/>
          </a:xfrm>
          <a:prstGeom prst="roundRect">
            <a:avLst>
              <a:gd name="adj" fmla="val 12000"/>
            </a:avLst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1883664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32720" y="1828800"/>
            <a:ext cx="438912" cy="502920"/>
          </a:xfrm>
          <a:prstGeom prst="roundRect">
            <a:avLst>
              <a:gd name="adj" fmla="val 12000"/>
            </a:avLst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1883664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35640" y="1828800"/>
            <a:ext cx="438912" cy="502920"/>
          </a:xfrm>
          <a:prstGeom prst="roundRect">
            <a:avLst>
              <a:gd name="adj" fmla="val 12000"/>
            </a:avLst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5640" y="1883664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08592" y="2487168"/>
            <a:ext cx="0" cy="512064"/>
          </a:xfrm>
          <a:prstGeom prst="line">
            <a:avLst/>
          </a:prstGeom>
          <a:ln w="25400">
            <a:solidFill>
              <a:srgbClr val="37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60920" y="3063240"/>
            <a:ext cx="3840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21F36"/>
                </a:solidFill>
                <a:latin typeface="Aptos"/>
              </a:rPr>
              <a:t>SHIFT REGISTER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80" y="3611880"/>
            <a:ext cx="448056" cy="566928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3694176"/>
            <a:ext cx="4480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21F36"/>
                </a:solidFill>
                <a:latin typeface="Aptos"/>
              </a:rP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81544" y="3611880"/>
            <a:ext cx="448056" cy="566928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81544" y="3694176"/>
            <a:ext cx="4480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21F36"/>
                </a:solidFill>
                <a:latin typeface="Aptos"/>
              </a:rPr>
              <a:t>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93608" y="3611880"/>
            <a:ext cx="448056" cy="566928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3608" y="3694176"/>
            <a:ext cx="4480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21F36"/>
                </a:solidFill>
                <a:latin typeface="Aptos"/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05672" y="3611880"/>
            <a:ext cx="448056" cy="566928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05672" y="3694176"/>
            <a:ext cx="4480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21F36"/>
                </a:solidFill>
                <a:latin typeface="Aptos"/>
              </a:rPr>
              <a:t>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17736" y="3611880"/>
            <a:ext cx="448056" cy="566928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17736" y="3694176"/>
            <a:ext cx="4480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21F36"/>
                </a:solidFill>
                <a:latin typeface="Aptos"/>
              </a:rPr>
              <a:t>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29800" y="3611880"/>
            <a:ext cx="448056" cy="566928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29800" y="3694176"/>
            <a:ext cx="4480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21F36"/>
                </a:solidFill>
                <a:latin typeface="Aptos"/>
              </a:rPr>
              <a:t>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41864" y="3611880"/>
            <a:ext cx="448056" cy="566928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41864" y="3694176"/>
            <a:ext cx="4480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21F36"/>
                </a:solidFill>
                <a:latin typeface="Aptos"/>
              </a:rPr>
              <a:t>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853928" y="3611880"/>
            <a:ext cx="448056" cy="566928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53928" y="3694176"/>
            <a:ext cx="4480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21F36"/>
                </a:solidFill>
                <a:latin typeface="Aptos"/>
              </a:rPr>
              <a:t>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360920" y="4434840"/>
            <a:ext cx="3566160" cy="0"/>
          </a:xfrm>
          <a:prstGeom prst="line">
            <a:avLst/>
          </a:prstGeom>
          <a:ln w="25400">
            <a:solidFill>
              <a:srgbClr val="EB9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315200" y="4617720"/>
            <a:ext cx="374903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EB9B3E"/>
                </a:solidFill>
                <a:latin typeface="Aptos"/>
              </a:rPr>
              <a:t>SERIAL OUTPUT: 1 BIT / CLOCK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080760"/>
            <a:ext cx="106984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6758A"/>
                </a:solidFill>
                <a:latin typeface="Aptos"/>
              </a:rPr>
              <a:t>Goal: demonstrate the load and shift modes in Logisim and verify the output sequence.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F36"/>
                </a:solidFill>
                <a:latin typeface="Aptos"/>
              </a:rPr>
              <a:t>2. Design /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658368" cy="50292"/>
          </a:xfrm>
          <a:prstGeom prst="rect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713232"/>
            <a:ext cx="10241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6758A"/>
                </a:solidFill>
                <a:latin typeface="Aptos"/>
              </a:rPr>
              <a:t>Conceptual schematic — editable PowerPoint shapes, designed to recreate in Logisim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6758A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834640" cy="4526280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2860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66FC9"/>
                </a:solidFill>
                <a:latin typeface="Aptos"/>
              </a:rPr>
              <a:t>DESIGN FLOW</a:t>
            </a:r>
          </a:p>
        </p:txBody>
      </p:sp>
      <p:sp>
        <p:nvSpPr>
          <p:cNvPr id="8" name="Oval 7"/>
          <p:cNvSpPr/>
          <p:nvPr/>
        </p:nvSpPr>
        <p:spPr>
          <a:xfrm>
            <a:off x="896112" y="2057400"/>
            <a:ext cx="384048" cy="384048"/>
          </a:xfrm>
          <a:prstGeom prst="ellipse">
            <a:avLst/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9397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39112"/>
            <a:ext cx="1691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33043"/>
                </a:solidFill>
                <a:latin typeface="Aptos"/>
              </a:rPr>
              <a:t>Choose 8-bit input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843784"/>
            <a:ext cx="384048" cy="384048"/>
          </a:xfrm>
          <a:prstGeom prst="ellipse">
            <a:avLst/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80360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25496"/>
            <a:ext cx="1691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33043"/>
                </a:solidFill>
                <a:latin typeface="Aptos"/>
              </a:rPr>
              <a:t>Load all bits in parallel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3630168"/>
            <a:ext cx="384048" cy="384048"/>
          </a:xfrm>
          <a:prstGeom prst="ellipse">
            <a:avLst/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666744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11879"/>
            <a:ext cx="1691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33043"/>
                </a:solidFill>
                <a:latin typeface="Aptos"/>
              </a:rPr>
              <a:t>Apply clock pulses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416552"/>
            <a:ext cx="384048" cy="384048"/>
          </a:xfrm>
          <a:prstGeom prst="ellipse">
            <a:avLst/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45312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398264"/>
            <a:ext cx="1691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33043"/>
                </a:solidFill>
                <a:latin typeface="Aptos"/>
              </a:rPr>
              <a:t>Read serial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1234440"/>
            <a:ext cx="7680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366FC9"/>
                </a:solidFill>
                <a:latin typeface="Aptos"/>
              </a:rPr>
              <a:t>8-STAGE REGISTER (SIMPLIFIED LOGISIM-STYLE VIEW)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691640"/>
            <a:ext cx="12344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66758A"/>
                </a:solidFill>
                <a:latin typeface="Aptos"/>
              </a:rPr>
              <a:t>Parallel inputs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86200" y="2057400"/>
            <a:ext cx="7040880" cy="0"/>
          </a:xfrm>
          <a:prstGeom prst="line">
            <a:avLst/>
          </a:prstGeom>
          <a:ln w="2540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51959" y="2057400"/>
            <a:ext cx="0" cy="429768"/>
          </a:xfrm>
          <a:prstGeom prst="line">
            <a:avLst/>
          </a:prstGeom>
          <a:ln w="1778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931920" y="2487168"/>
            <a:ext cx="658368" cy="777240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2596896"/>
            <a:ext cx="6583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66FC9"/>
                </a:solidFill>
                <a:latin typeface="Aptos"/>
              </a:rPr>
              <a:t>D0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2889504"/>
            <a:ext cx="658368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21F36"/>
                </a:solidFill>
                <a:latin typeface="Aptos"/>
              </a:rPr>
              <a:t>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127248"/>
            <a:ext cx="658368" cy="118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66758A"/>
                </a:solidFill>
                <a:latin typeface="Aptos"/>
              </a:rPr>
              <a:t>Q0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90288" y="2871216"/>
            <a:ext cx="219456" cy="0"/>
          </a:xfrm>
          <a:prstGeom prst="line">
            <a:avLst/>
          </a:prstGeom>
          <a:ln w="25400">
            <a:solidFill>
              <a:srgbClr val="37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129783" y="2057400"/>
            <a:ext cx="0" cy="429768"/>
          </a:xfrm>
          <a:prstGeom prst="line">
            <a:avLst/>
          </a:prstGeom>
          <a:ln w="1778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809744" y="2487168"/>
            <a:ext cx="658368" cy="777240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2596896"/>
            <a:ext cx="6583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66FC9"/>
                </a:solidFill>
                <a:latin typeface="Aptos"/>
              </a:rPr>
              <a:t>D1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9744" y="2889504"/>
            <a:ext cx="658368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21F36"/>
                </a:solidFill>
                <a:latin typeface="Aptos"/>
              </a:rPr>
              <a:t>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3127248"/>
            <a:ext cx="658368" cy="118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66758A"/>
                </a:solidFill>
                <a:latin typeface="Aptos"/>
              </a:rPr>
              <a:t>Q1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68112" y="2871216"/>
            <a:ext cx="219456" cy="0"/>
          </a:xfrm>
          <a:prstGeom prst="line">
            <a:avLst/>
          </a:prstGeom>
          <a:ln w="25400">
            <a:solidFill>
              <a:srgbClr val="37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07607" y="2057400"/>
            <a:ext cx="0" cy="429768"/>
          </a:xfrm>
          <a:prstGeom prst="line">
            <a:avLst/>
          </a:prstGeom>
          <a:ln w="1778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687568" y="2487168"/>
            <a:ext cx="658368" cy="777240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87568" y="2596896"/>
            <a:ext cx="6583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66FC9"/>
                </a:solidFill>
                <a:latin typeface="Aptos"/>
              </a:rPr>
              <a:t>D2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7568" y="2889504"/>
            <a:ext cx="658368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21F36"/>
                </a:solidFill>
                <a:latin typeface="Aptos"/>
              </a:rPr>
              <a:t>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87568" y="3127248"/>
            <a:ext cx="658368" cy="118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66758A"/>
                </a:solidFill>
                <a:latin typeface="Aptos"/>
              </a:rPr>
              <a:t>Q2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45936" y="2871216"/>
            <a:ext cx="219456" cy="0"/>
          </a:xfrm>
          <a:prstGeom prst="line">
            <a:avLst/>
          </a:prstGeom>
          <a:ln w="25400">
            <a:solidFill>
              <a:srgbClr val="37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885431" y="2057400"/>
            <a:ext cx="0" cy="429768"/>
          </a:xfrm>
          <a:prstGeom prst="line">
            <a:avLst/>
          </a:prstGeom>
          <a:ln w="1778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565392" y="2487168"/>
            <a:ext cx="658368" cy="777240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2596896"/>
            <a:ext cx="6583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66FC9"/>
                </a:solidFill>
                <a:latin typeface="Aptos"/>
              </a:rPr>
              <a:t>D3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2889504"/>
            <a:ext cx="658368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21F36"/>
                </a:solidFill>
                <a:latin typeface="Aptos"/>
              </a:rPr>
              <a:t>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3127248"/>
            <a:ext cx="658368" cy="118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66758A"/>
                </a:solidFill>
                <a:latin typeface="Aptos"/>
              </a:rPr>
              <a:t>Q3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223759" y="2871216"/>
            <a:ext cx="219457" cy="0"/>
          </a:xfrm>
          <a:prstGeom prst="line">
            <a:avLst/>
          </a:prstGeom>
          <a:ln w="25400">
            <a:solidFill>
              <a:srgbClr val="37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63256" y="2057400"/>
            <a:ext cx="0" cy="429768"/>
          </a:xfrm>
          <a:prstGeom prst="line">
            <a:avLst/>
          </a:prstGeom>
          <a:ln w="1778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443216" y="2487168"/>
            <a:ext cx="658368" cy="777240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43216" y="2596896"/>
            <a:ext cx="6583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66FC9"/>
                </a:solidFill>
                <a:latin typeface="Aptos"/>
              </a:rPr>
              <a:t>D4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43216" y="2889504"/>
            <a:ext cx="658368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21F36"/>
                </a:solidFill>
                <a:latin typeface="Aptos"/>
              </a:rPr>
              <a:t>FF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43216" y="3127248"/>
            <a:ext cx="658368" cy="118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66758A"/>
                </a:solidFill>
                <a:latin typeface="Aptos"/>
              </a:rPr>
              <a:t>Q4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101584" y="2871216"/>
            <a:ext cx="219456" cy="0"/>
          </a:xfrm>
          <a:prstGeom prst="line">
            <a:avLst/>
          </a:prstGeom>
          <a:ln w="25400">
            <a:solidFill>
              <a:srgbClr val="37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641080" y="2057400"/>
            <a:ext cx="0" cy="429768"/>
          </a:xfrm>
          <a:prstGeom prst="line">
            <a:avLst/>
          </a:prstGeom>
          <a:ln w="1778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8321040" y="2487168"/>
            <a:ext cx="658368" cy="777240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2596896"/>
            <a:ext cx="6583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66FC9"/>
                </a:solidFill>
                <a:latin typeface="Aptos"/>
              </a:rPr>
              <a:t>D5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2889504"/>
            <a:ext cx="658368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21F36"/>
                </a:solidFill>
                <a:latin typeface="Aptos"/>
              </a:rPr>
              <a:t>FF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3127248"/>
            <a:ext cx="658368" cy="118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66758A"/>
                </a:solidFill>
                <a:latin typeface="Aptos"/>
              </a:rPr>
              <a:t>Q5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979408" y="2871216"/>
            <a:ext cx="219455" cy="0"/>
          </a:xfrm>
          <a:prstGeom prst="line">
            <a:avLst/>
          </a:prstGeom>
          <a:ln w="25400">
            <a:solidFill>
              <a:srgbClr val="37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518903" y="2057400"/>
            <a:ext cx="0" cy="429768"/>
          </a:xfrm>
          <a:prstGeom prst="line">
            <a:avLst/>
          </a:prstGeom>
          <a:ln w="1778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198863" y="2487168"/>
            <a:ext cx="658368" cy="777240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98863" y="2596896"/>
            <a:ext cx="6583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66FC9"/>
                </a:solidFill>
                <a:latin typeface="Aptos"/>
              </a:rPr>
              <a:t>D6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98863" y="2889504"/>
            <a:ext cx="658368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21F36"/>
                </a:solidFill>
                <a:latin typeface="Aptos"/>
              </a:rPr>
              <a:t>FF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98863" y="3127248"/>
            <a:ext cx="658368" cy="118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66758A"/>
                </a:solidFill>
                <a:latin typeface="Aptos"/>
              </a:rPr>
              <a:t>Q6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857232" y="2871216"/>
            <a:ext cx="219456" cy="0"/>
          </a:xfrm>
          <a:prstGeom prst="line">
            <a:avLst/>
          </a:prstGeom>
          <a:ln w="25400">
            <a:solidFill>
              <a:srgbClr val="37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396728" y="2057400"/>
            <a:ext cx="0" cy="429768"/>
          </a:xfrm>
          <a:prstGeom prst="line">
            <a:avLst/>
          </a:prstGeom>
          <a:ln w="17780">
            <a:solidFill>
              <a:srgbClr val="366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10076688" y="2487168"/>
            <a:ext cx="658368" cy="777240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76688" y="2596896"/>
            <a:ext cx="6583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66FC9"/>
                </a:solidFill>
                <a:latin typeface="Aptos"/>
              </a:rPr>
              <a:t>D7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76688" y="2889504"/>
            <a:ext cx="658368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121F36"/>
                </a:solidFill>
                <a:latin typeface="Aptos"/>
              </a:rPr>
              <a:t>FF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76688" y="3127248"/>
            <a:ext cx="658368" cy="118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66758A"/>
                </a:solidFill>
                <a:latin typeface="Aptos"/>
              </a:rPr>
              <a:t>Q7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977639" y="3794760"/>
            <a:ext cx="6949441" cy="0"/>
          </a:xfrm>
          <a:prstGeom prst="line">
            <a:avLst/>
          </a:prstGeom>
          <a:ln w="22860">
            <a:solidFill>
              <a:srgbClr val="EB9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886200" y="3886200"/>
            <a:ext cx="10058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EB9B3E"/>
                </a:solidFill>
                <a:latin typeface="Aptos"/>
              </a:rPr>
              <a:t>CLK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4251959" y="3310128"/>
            <a:ext cx="0" cy="484632"/>
          </a:xfrm>
          <a:prstGeom prst="line">
            <a:avLst/>
          </a:prstGeom>
          <a:ln w="12700">
            <a:solidFill>
              <a:srgbClr val="EB9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129783" y="3310128"/>
            <a:ext cx="0" cy="484632"/>
          </a:xfrm>
          <a:prstGeom prst="line">
            <a:avLst/>
          </a:prstGeom>
          <a:ln w="12700">
            <a:solidFill>
              <a:srgbClr val="EB9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007607" y="3310128"/>
            <a:ext cx="0" cy="484632"/>
          </a:xfrm>
          <a:prstGeom prst="line">
            <a:avLst/>
          </a:prstGeom>
          <a:ln w="12700">
            <a:solidFill>
              <a:srgbClr val="EB9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85431" y="3310128"/>
            <a:ext cx="0" cy="484632"/>
          </a:xfrm>
          <a:prstGeom prst="line">
            <a:avLst/>
          </a:prstGeom>
          <a:ln w="12700">
            <a:solidFill>
              <a:srgbClr val="EB9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763256" y="3310128"/>
            <a:ext cx="0" cy="484632"/>
          </a:xfrm>
          <a:prstGeom prst="line">
            <a:avLst/>
          </a:prstGeom>
          <a:ln w="12700">
            <a:solidFill>
              <a:srgbClr val="EB9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641080" y="3310128"/>
            <a:ext cx="0" cy="484632"/>
          </a:xfrm>
          <a:prstGeom prst="line">
            <a:avLst/>
          </a:prstGeom>
          <a:ln w="12700">
            <a:solidFill>
              <a:srgbClr val="EB9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518903" y="3310128"/>
            <a:ext cx="0" cy="484632"/>
          </a:xfrm>
          <a:prstGeom prst="line">
            <a:avLst/>
          </a:prstGeom>
          <a:ln w="12700">
            <a:solidFill>
              <a:srgbClr val="EB9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396728" y="3310128"/>
            <a:ext cx="0" cy="484632"/>
          </a:xfrm>
          <a:prstGeom prst="line">
            <a:avLst/>
          </a:prstGeom>
          <a:ln w="12700">
            <a:solidFill>
              <a:srgbClr val="EB9B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607040" y="2880360"/>
            <a:ext cx="502920" cy="0"/>
          </a:xfrm>
          <a:prstGeom prst="line">
            <a:avLst/>
          </a:prstGeom>
          <a:ln w="25400">
            <a:solidFill>
              <a:srgbClr val="2599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012680" y="3364992"/>
            <a:ext cx="1600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259971"/>
                </a:solidFill>
                <a:latin typeface="Aptos"/>
              </a:rPr>
              <a:t>Serial out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840480" y="4572000"/>
            <a:ext cx="7132320" cy="777240"/>
          </a:xfrm>
          <a:prstGeom prst="roundRect">
            <a:avLst>
              <a:gd name="adj" fmla="val 12000"/>
            </a:avLst>
          </a:prstGeom>
          <a:solidFill>
            <a:srgbClr val="FAF7EE"/>
          </a:solidFill>
          <a:ln>
            <a:solidFill>
              <a:srgbClr val="ECC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69080" y="4681728"/>
            <a:ext cx="66294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233043"/>
                </a:solidFill>
                <a:latin typeface="Aptos"/>
              </a:rPr>
              <a:t>LOAD mode: capture D7–D0 together  |  SHIFT mode: move data one stage per clock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6758A"/>
                </a:solidFill>
                <a:latin typeface="Aptos"/>
              </a:rPr>
              <a:t>Implementation note: use 8 D flip-flops (or a shift-register component), a clock, and a load/shift control. Exact pin setup depends on the Logisim version.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F36"/>
                </a:solidFill>
                <a:latin typeface="Aptos"/>
              </a:rPr>
              <a:t>3. Demo in Logisim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658368" cy="50292"/>
          </a:xfrm>
          <a:prstGeom prst="rect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713232"/>
            <a:ext cx="10241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6758A"/>
                </a:solidFill>
                <a:latin typeface="Aptos"/>
              </a:rPr>
              <a:t>Suggested live demonstration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6758A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4937760" cy="4800600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42062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66FC9"/>
                </a:solidFill>
                <a:latin typeface="Aptos"/>
              </a:rPr>
              <a:t>BUILD &amp;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93392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02536"/>
            <a:ext cx="47548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75104"/>
            <a:ext cx="361188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33043"/>
                </a:solidFill>
                <a:latin typeface="Aptos"/>
              </a:rPr>
              <a:t>Place 8 D flip-flops / an 8-bit register.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15768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24912"/>
            <a:ext cx="47548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97480"/>
            <a:ext cx="361188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33043"/>
                </a:solidFill>
                <a:latin typeface="Aptos"/>
              </a:rPr>
              <a:t>Add 8 input pins, a clock, and a serial output pin.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38144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8"/>
            <a:ext cx="47548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19856"/>
            <a:ext cx="361188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33043"/>
                </a:solidFill>
                <a:latin typeface="Aptos"/>
              </a:rPr>
              <a:t>Wire the parallel inputs and shift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160520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69664"/>
            <a:ext cx="47548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42232"/>
            <a:ext cx="361188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33043"/>
                </a:solidFill>
                <a:latin typeface="Aptos"/>
              </a:rPr>
              <a:t>Load a test byte, e.g. 10110010.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82896"/>
            <a:ext cx="475488" cy="310896"/>
          </a:xfrm>
          <a:prstGeom prst="roundRect">
            <a:avLst>
              <a:gd name="adj" fmla="val 12000"/>
            </a:avLst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475488" cy="25603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864608"/>
            <a:ext cx="361188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33043"/>
                </a:solidFill>
                <a:latin typeface="Aptos"/>
              </a:rPr>
              <a:t>Pulse the clock and record each serial bit.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353312"/>
            <a:ext cx="5394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366FC9"/>
                </a:solidFill>
                <a:latin typeface="Aptos"/>
              </a:rPr>
              <a:t>ILLUSTRATIVE OUTPUT TRACE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828800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1D2D46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865376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1828800"/>
            <a:ext cx="3383280" cy="438912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865376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21F36"/>
                </a:solidFill>
                <a:latin typeface="Aptos"/>
              </a:rPr>
              <a:t>10110010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2487168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1D2D46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2523744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CLK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2487168"/>
            <a:ext cx="3383280" cy="438912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252374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21F36"/>
                </a:solidFill>
                <a:latin typeface="Aptos"/>
              </a:rPr>
              <a:t>1011001•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145536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1D2D46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182112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CLK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3145536"/>
            <a:ext cx="3383280" cy="438912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3182112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21F36"/>
                </a:solidFill>
                <a:latin typeface="Aptos"/>
              </a:rPr>
              <a:t>101100••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803904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1D2D46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840480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CLK 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43800" y="3803904"/>
            <a:ext cx="3383280" cy="438912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5240" y="3840480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21F36"/>
                </a:solidFill>
                <a:latin typeface="Aptos"/>
              </a:rPr>
              <a:t>10110•••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462272"/>
            <a:ext cx="1143000" cy="438912"/>
          </a:xfrm>
          <a:prstGeom prst="roundRect">
            <a:avLst>
              <a:gd name="adj" fmla="val 12000"/>
            </a:avLst>
          </a:prstGeom>
          <a:solidFill>
            <a:srgbClr val="1D2D46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4498848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CLK 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4462272"/>
            <a:ext cx="3383280" cy="438912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449884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21F36"/>
                </a:solidFill>
                <a:latin typeface="Aptos"/>
              </a:rPr>
              <a:t>1011••••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5349240"/>
            <a:ext cx="484632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6758A"/>
                </a:solidFill>
                <a:latin typeface="Aptos"/>
              </a:rPr>
              <a:t>Capture the actual Logisim screen here after testing.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5806440"/>
            <a:ext cx="4526280" cy="36576"/>
          </a:xfrm>
          <a:prstGeom prst="rect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6199632"/>
            <a:ext cx="105156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6758A"/>
                </a:solidFill>
                <a:latin typeface="Aptos"/>
              </a:rPr>
              <a:t>Note: the trace is illustrative. Confirm shift direction and output order in your chosen circuit before presenting.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121F36"/>
                </a:solidFill>
                <a:latin typeface="Aptos"/>
              </a:rPr>
              <a:t>4. Working &amp;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658368" cy="50292"/>
          </a:xfrm>
          <a:prstGeom prst="rect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8448" y="713232"/>
            <a:ext cx="10241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6758A"/>
                </a:solidFill>
                <a:latin typeface="Aptos"/>
              </a:rPr>
              <a:t>How data moves through the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510528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6758A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2011680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09728"/>
          </a:xfrm>
          <a:prstGeom prst="roundRect">
            <a:avLst>
              <a:gd name="adj" fmla="val 12000"/>
            </a:avLst>
          </a:prstGeom>
          <a:solidFill>
            <a:srgbClr val="366FC9"/>
          </a:solidFill>
          <a:ln>
            <a:solidFill>
              <a:srgbClr val="366F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1907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66FC9"/>
                </a:solidFill>
                <a:latin typeface="Aptos"/>
              </a:rPr>
              <a:t>1 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48840"/>
            <a:ext cx="306324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33043"/>
                </a:solidFill>
                <a:latin typeface="Aptos"/>
              </a:rPr>
              <a:t>Set LOAD mode and place 8-bit data on the input pins. All 8 stages capture their bits on the active clock edge.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520440" cy="2011680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520440" cy="109728"/>
          </a:xfrm>
          <a:prstGeom prst="roundRect">
            <a:avLst>
              <a:gd name="adj" fmla="val 12000"/>
            </a:avLst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71907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7BECF"/>
                </a:solidFill>
                <a:latin typeface="Aptos"/>
              </a:rPr>
              <a:t>2 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148840"/>
            <a:ext cx="306324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33043"/>
                </a:solidFill>
                <a:latin typeface="Aptos"/>
              </a:rPr>
              <a:t>Switch to SHIFT mode. Each clock edge moves the stored data by one stage toward the serial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520440" cy="2011680"/>
          </a:xfrm>
          <a:prstGeom prst="roundRect">
            <a:avLst>
              <a:gd name="adj" fmla="val 12000"/>
            </a:avLst>
          </a:prstGeom>
          <a:solidFill>
            <a:srgbClr val="EEF4FC"/>
          </a:solidFill>
          <a:ln>
            <a:solidFill>
              <a:srgbClr val="EE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1417320"/>
            <a:ext cx="3520440" cy="109728"/>
          </a:xfrm>
          <a:prstGeom prst="roundRect">
            <a:avLst>
              <a:gd name="adj" fmla="val 12000"/>
            </a:avLst>
          </a:prstGeom>
          <a:solidFill>
            <a:srgbClr val="259971"/>
          </a:solidFill>
          <a:ln>
            <a:solidFill>
              <a:srgbClr val="259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719072"/>
            <a:ext cx="3108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59971"/>
                </a:solidFill>
                <a:latin typeface="Aptos"/>
              </a:rPr>
              <a:t>3 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148840"/>
            <a:ext cx="306324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233043"/>
                </a:solidFill>
                <a:latin typeface="Aptos"/>
              </a:rPr>
              <a:t>Read one bit per clock pulse. After 8 pulses, the full byte has been sent serially.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22191"/>
            <a:ext cx="4846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366FC9"/>
                </a:solidFill>
                <a:latin typeface="Aptos"/>
              </a:rPr>
              <a:t>APPLICATIONS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146304" cy="530352"/>
          </a:xfrm>
          <a:prstGeom prst="roundRect">
            <a:avLst>
              <a:gd name="adj" fmla="val 12000"/>
            </a:avLst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21F36"/>
                </a:solidFill>
                <a:latin typeface="Aptos"/>
              </a:rPr>
              <a:t>Serial 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251960"/>
            <a:ext cx="31546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6758A"/>
                </a:solidFill>
                <a:latin typeface="Aptos"/>
              </a:rPr>
              <a:t>Send data using fewer output wires.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251960"/>
            <a:ext cx="146304" cy="530352"/>
          </a:xfrm>
          <a:prstGeom prst="roundRect">
            <a:avLst>
              <a:gd name="adj" fmla="val 12000"/>
            </a:avLst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51960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21F36"/>
                </a:solidFill>
                <a:latin typeface="Aptos"/>
              </a:rPr>
              <a:t>Microcontrollers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51960"/>
            <a:ext cx="31546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6758A"/>
                </a:solidFill>
                <a:latin typeface="Aptos"/>
              </a:rPr>
              <a:t>Convert parallel sensor/data values to a serial stream.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146304" cy="530352"/>
          </a:xfrm>
          <a:prstGeom prst="roundRect">
            <a:avLst>
              <a:gd name="adj" fmla="val 12000"/>
            </a:avLst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029200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21F36"/>
                </a:solidFill>
                <a:latin typeface="Aptos"/>
              </a:rPr>
              <a:t>Data transfer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5029200"/>
            <a:ext cx="31546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6758A"/>
                </a:solidFill>
                <a:latin typeface="Aptos"/>
              </a:rPr>
              <a:t>Move bytes between digital subsystems.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029200"/>
            <a:ext cx="146304" cy="530352"/>
          </a:xfrm>
          <a:prstGeom prst="roundRect">
            <a:avLst>
              <a:gd name="adj" fmla="val 12000"/>
            </a:avLst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5029200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21F36"/>
                </a:solidFill>
                <a:latin typeface="Aptos"/>
              </a:rPr>
              <a:t>Embedded systems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029200"/>
            <a:ext cx="31546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6758A"/>
                </a:solidFill>
                <a:latin typeface="Aptos"/>
              </a:rPr>
              <a:t>Useful where pin count or wiring is limited.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80760"/>
            <a:ext cx="106070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9971"/>
                </a:solidFill>
                <a:latin typeface="Aptos"/>
              </a:rPr>
              <a:t>Key advantage: 8 parallel input lines are converted into a 1-bit-wide serial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515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5. GitHub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13232" cy="54864"/>
          </a:xfrm>
          <a:prstGeom prst="rect">
            <a:avLst/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5778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37BECF"/>
                </a:solidFill>
                <a:latin typeface="Aptos"/>
              </a:rPr>
              <a:t>PROJECT FILES &amp;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539496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Upload your Logisim circuit file (.circ), screenshots, and a short README so the project can be checked and reused.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46120"/>
            <a:ext cx="5212080" cy="2057400"/>
          </a:xfrm>
          <a:prstGeom prst="roundRect">
            <a:avLst>
              <a:gd name="adj" fmla="val 12000"/>
            </a:avLst>
          </a:prstGeom>
          <a:solidFill>
            <a:srgbClr val="1D2D46"/>
          </a:solidFill>
          <a:ln>
            <a:solidFill>
              <a:srgbClr val="1D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493008"/>
            <a:ext cx="4572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37BECF"/>
                </a:solidFill>
                <a:latin typeface="Aptos"/>
              </a:rPr>
              <a:t>RECOMMENDED REPOSITORY CONTENTS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" y="4023359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3931920"/>
            <a:ext cx="4297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8-bit-PISO-Register.circ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4416551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4325112"/>
            <a:ext cx="4297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Logisim-demo.png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4809744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37BECF"/>
          </a:solidFill>
          <a:ln>
            <a:solidFill>
              <a:srgbClr val="37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2" y="4718304"/>
            <a:ext cx="4297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README.md (aim, design, truth/shift table)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554480"/>
            <a:ext cx="4892040" cy="3429000"/>
          </a:xfrm>
          <a:prstGeom prst="roundRect">
            <a:avLst>
              <a:gd name="adj" fmla="val 12000"/>
            </a:avLst>
          </a:prstGeom>
          <a:solidFill>
            <a:srgbClr val="F2F6FC"/>
          </a:solidFill>
          <a:ln>
            <a:solidFill>
              <a:srgbClr val="F2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1847088"/>
            <a:ext cx="4297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>
                <a:solidFill>
                  <a:srgbClr val="366FC9"/>
                </a:solidFill>
                <a:latin typeface="Aptos"/>
              </a:rPr>
              <a:t>REPOSITORY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423160"/>
            <a:ext cx="4251960" cy="9144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121F36"/>
                </a:solidFill>
                <a:latin typeface="Aptos"/>
              </a:rPr>
              <a:t>Paste your GitHub link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520440"/>
            <a:ext cx="42519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>
                <a:solidFill>
                  <a:srgbClr val="66758A"/>
                </a:solidFill>
                <a:latin typeface="Aptos"/>
              </a:rPr>
              <a:t>https://github.com/your-username/your-repo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160520"/>
            <a:ext cx="2286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366FC9"/>
                </a:solidFill>
                <a:latin typeface="Aptos"/>
              </a:rPr>
              <a:t>QR PLACEHOLDER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4480560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59368" y="4480560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05672" y="4480560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51976" y="4480560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13064" y="4590288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59368" y="4590288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1976" y="4590288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60" y="4700016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13064" y="4700016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59368" y="4700016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05672" y="4700016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51976" y="4700016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66760" y="4809744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59368" y="4809744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05672" y="4809744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66760" y="4919472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13064" y="4919472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59368" y="4919472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51976" y="4919472"/>
            <a:ext cx="100584" cy="73152"/>
          </a:xfrm>
          <a:prstGeom prst="rect">
            <a:avLst/>
          </a:prstGeom>
          <a:solidFill>
            <a:srgbClr val="121F36"/>
          </a:solidFill>
          <a:ln>
            <a:solidFill>
              <a:srgbClr val="12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925312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CDDCF0"/>
                </a:solidFill>
                <a:latin typeface="Aptos"/>
              </a:rPr>
              <a:t>Replace the sample URL and QR placeholder with your actual repository details before submission.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510528"/>
            <a:ext cx="457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B9C8D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